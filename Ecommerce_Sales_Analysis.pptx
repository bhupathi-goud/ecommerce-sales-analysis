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44"/>
                </a:solidFill>
                <a:latin typeface="Arial"/>
              </a:rPr>
              <a:t>Monthly Revenue Trend (R$k)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(R$k)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Jan'17</c:v>
                  </c:pt>
                  <c:pt idx="1">
                    <c:v>Mar</c:v>
                  </c:pt>
                  <c:pt idx="2">
                    <c:v>May</c:v>
                  </c:pt>
                  <c:pt idx="3">
                    <c:v>Jul</c:v>
                  </c:pt>
                  <c:pt idx="4">
                    <c:v>Sep</c:v>
                  </c:pt>
                  <c:pt idx="5">
                    <c:v>Nov</c:v>
                  </c:pt>
                  <c:pt idx="6">
                    <c:v>Jan'18</c:v>
                  </c:pt>
                  <c:pt idx="7">
                    <c:v>Mar</c:v>
                  </c:pt>
                  <c:pt idx="8">
                    <c:v>May</c:v>
                  </c:pt>
                  <c:pt idx="9">
                    <c:v>Jul</c:v>
                  </c:pt>
                  <c:pt idx="10">
                    <c:v>Sep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280</c:v>
                </c:pt>
                <c:pt idx="1">
                  <c:v>620</c:v>
                </c:pt>
                <c:pt idx="2">
                  <c:v>850</c:v>
                </c:pt>
                <c:pt idx="3">
                  <c:v>950</c:v>
                </c:pt>
                <c:pt idx="4">
                  <c:v>1100</c:v>
                </c:pt>
                <c:pt idx="5">
                  <c:v>1480</c:v>
                </c:pt>
                <c:pt idx="6">
                  <c:v>950</c:v>
                </c:pt>
                <c:pt idx="7">
                  <c:v>1150</c:v>
                </c:pt>
                <c:pt idx="8">
                  <c:v>1250</c:v>
                </c:pt>
                <c:pt idx="9">
                  <c:v>1350</c:v>
                </c:pt>
                <c:pt idx="10">
                  <c:v>1420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44"/>
                </a:solidFill>
                <a:latin typeface="Arial"/>
              </a:rPr>
              <a:t>Top States by Revenue (R$M)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(R$M)</c:v>
                </c:pt>
              </c:strCache>
            </c:strRef>
          </c:tx>
          <c:spPr>
            <a:solidFill>
              <a:srgbClr val="1E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5F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GO</c:v>
                  </c:pt>
                  <c:pt idx="1">
                    <c:v>DF</c:v>
                  </c:pt>
                  <c:pt idx="2">
                    <c:v>BA</c:v>
                  </c:pt>
                  <c:pt idx="3">
                    <c:v>SC</c:v>
                  </c:pt>
                  <c:pt idx="4">
                    <c:v>PR</c:v>
                  </c:pt>
                  <c:pt idx="5">
                    <c:v>RS</c:v>
                  </c:pt>
                  <c:pt idx="6">
                    <c:v>MG</c:v>
                  </c:pt>
                  <c:pt idx="7">
                    <c:v>RJ</c:v>
                  </c:pt>
                  <c:pt idx="8">
                    <c:v>SP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</c:v>
                </c:pt>
                <c:pt idx="1">
                  <c:v>0.3</c:v>
                </c:pt>
                <c:pt idx="2">
                  <c:v>0.5</c:v>
                </c:pt>
                <c:pt idx="3">
                  <c:v>0.5</c:v>
                </c:pt>
                <c:pt idx="4">
                  <c:v>0.7</c:v>
                </c:pt>
                <c:pt idx="5">
                  <c:v>0.7</c:v>
                </c:pt>
                <c:pt idx="6">
                  <c:v>1.6</c:v>
                </c:pt>
                <c:pt idx="7">
                  <c:v>1.8</c:v>
                </c:pt>
                <c:pt idx="8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44"/>
                </a:solidFill>
                <a:latin typeface="Arial"/>
              </a:rPr>
              <a:t>Payment Type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E5FA8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73.9</c:v>
                </c:pt>
                <c:pt idx="1">
                  <c:v>19</c:v>
                </c:pt>
                <c:pt idx="2">
                  <c:v>4.1</c:v>
                </c:pt>
                <c:pt idx="3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657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0515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7373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4231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1089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37947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480560"/>
            <a:ext cx="2743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82880"/>
            <a:ext cx="0" cy="47548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82880"/>
            <a:ext cx="0" cy="47548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82880"/>
            <a:ext cx="0" cy="47548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182880"/>
            <a:ext cx="0" cy="47548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"/>
            <a:ext cx="0" cy="47548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548640"/>
            <a:ext cx="1097280" cy="10972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3474720"/>
            <a:ext cx="640080" cy="640080"/>
          </a:xfrm>
          <a:prstGeom prst="ellipse">
            <a:avLst/>
          </a:prstGeom>
          <a:solidFill>
            <a:srgbClr val="1E5FA8">
              <a:alpha val="40000"/>
            </a:srgbClr>
          </a:solidFill>
          <a:ln w="12700">
            <a:solidFill>
              <a:srgbClr val="1E5FA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502920"/>
            <a:ext cx="274320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R$16.01M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89320" y="978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1600200"/>
            <a:ext cx="274320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96K+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89320" y="20756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2697480"/>
            <a:ext cx="274320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9320" y="3172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3794760"/>
            <a:ext cx="274320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4.07★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989320" y="4270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640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320040" y="129844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400" dirty="0"/>
          </a:p>
        </p:txBody>
      </p:sp>
      <p:sp>
        <p:nvSpPr>
          <p:cNvPr id="32" name="Shape 30"/>
          <p:cNvSpPr/>
          <p:nvPr/>
        </p:nvSpPr>
        <p:spPr>
          <a:xfrm>
            <a:off x="320040" y="2084832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the Olist Brazilian E-Commerce dataset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raw data cleaning to Power BI dashboard.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324612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2461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81912" y="324612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1E5FA8">
              <a:alpha val="25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1912" y="32461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43784" y="324612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43784" y="32461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05656" y="324612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05656" y="32461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KALALI BHUPATHI GOUD  ·  DATA ANALYST  ·  HYDERABAD, INDIA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github.com/bhupathi-goud/ecommerce-sales-analysis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100,000+ orders (2016–2018) across Brazil — customers, sellers, products, payments, deliveries, and reviews.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011680" cy="2560320"/>
          </a:xfrm>
          <a:prstGeom prst="rect">
            <a:avLst/>
          </a:prstGeom>
          <a:solidFill>
            <a:srgbClr val="E8FDF8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20116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29992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Matplotlib · Seaborn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50592" y="1600200"/>
            <a:ext cx="2011680" cy="2560320"/>
          </a:xfrm>
          <a:prstGeom prst="rect">
            <a:avLst/>
          </a:prstGeom>
          <a:solidFill>
            <a:srgbClr val="EEF4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600200"/>
            <a:ext cx="2011680" cy="1645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9202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50592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542032" y="29992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&amp; data storage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26864" y="1600200"/>
            <a:ext cx="2011680" cy="2560320"/>
          </a:xfrm>
          <a:prstGeom prst="rect">
            <a:avLst/>
          </a:prstGeom>
          <a:solidFill>
            <a:srgbClr val="F5F0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600200"/>
            <a:ext cx="201168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202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6864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718304" y="29992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DAX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03136" y="1600200"/>
            <a:ext cx="2011680" cy="2560320"/>
          </a:xfrm>
          <a:prstGeom prst="rect">
            <a:avLst/>
          </a:prstGeom>
          <a:solidFill>
            <a:srgbClr val="FFFBEB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600200"/>
            <a:ext cx="201168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9202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894576" y="29992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/ Google Colab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44988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57200" y="4828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651760" y="44988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2651760" y="4828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46320" y="44988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4846320" y="4828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040880" y="44988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7040880" y="4828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interconnected CSV files covering the full e-commerce workflow.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92608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371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128016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371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371600"/>
            <a:ext cx="429768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3716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73736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7373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3736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7373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1737360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7373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status, timestamps, delivery dates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130552"/>
            <a:ext cx="29260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21305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olist_order_items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130552"/>
            <a:ext cx="128016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21305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2130552"/>
            <a:ext cx="42976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21305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per order, price &amp; freight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52374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5237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olist_customers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52374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523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2523744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5237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city, state, unique ID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2916936"/>
            <a:ext cx="29260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29169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olist_products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2916936"/>
            <a:ext cx="128016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9169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2916936"/>
            <a:ext cx="42976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91693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category, dimensions, weight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331012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3101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olist_sellers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31012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3101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26280" y="3310128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33101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city, state, zip code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8600" y="3703320"/>
            <a:ext cx="29260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3703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olist_payments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3703320"/>
            <a:ext cx="128016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3703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26280" y="3703320"/>
            <a:ext cx="42976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99432" y="37033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type, value, installments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28600" y="409651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40965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olist_reviews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0" y="409651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40965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26280" y="4096512"/>
            <a:ext cx="4297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99432" y="4096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score, comments, timestamps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28600" y="4489704"/>
            <a:ext cx="29260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44897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category_translation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0" y="4489704"/>
            <a:ext cx="128016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73552" y="4489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26280" y="4489704"/>
            <a:ext cx="4297680" cy="384048"/>
          </a:xfrm>
          <a:prstGeom prst="rect">
            <a:avLst/>
          </a:prstGeom>
          <a:solidFill>
            <a:srgbClr val="F0F6FF"/>
          </a:solidFill>
          <a:ln w="6350">
            <a:solidFill>
              <a:srgbClr val="D1D9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99432" y="44897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to English category names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  (Python)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6276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28016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60604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via kagglehub API;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8 CSVs into Pandas DataFrames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100584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005840"/>
            <a:ext cx="1627632" cy="20116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280160"/>
            <a:ext cx="640080" cy="640080"/>
          </a:xfrm>
          <a:prstGeom prst="ellipse">
            <a:avLst/>
          </a:prstGeom>
          <a:solidFill>
            <a:srgbClr val="1E5FA8">
              <a:alpha val="15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39112" y="20299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66544" y="260604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null delivery dates;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categories with 'unknown'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100584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1005840"/>
            <a:ext cx="162763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280160"/>
            <a:ext cx="640080" cy="64008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03904" y="20299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Corrections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31336" y="260604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5 timestamp columns to datetime;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float types for price &amp; freight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22976" y="100584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22976" y="1005840"/>
            <a:ext cx="162763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1280160"/>
            <a:ext cx="640080" cy="64008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68696" y="20299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260604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across all tables;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'delivered' status only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100584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7768" y="1005840"/>
            <a:ext cx="162763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81544" y="1280160"/>
            <a:ext cx="640080" cy="64008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1544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33488" y="202996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60920" y="260604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category translations;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6 clean CSVs to PostgreSQL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56232" y="256032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3621024" y="256032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5385816" y="256032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150608" y="2560320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 (PostgreSQL)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loaded via COPY command — business queries extracted all key insights.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114800" cy="749808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17320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53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COUNT, AVG, ROUND on revenue &amp;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313432"/>
            <a:ext cx="4114800" cy="749808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313432"/>
            <a:ext cx="109728" cy="7498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0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across all 6 tables for revenue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09544"/>
            <a:ext cx="4114800" cy="749808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209544"/>
            <a:ext cx="10972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DATE_TRUNC, EXTRACT for monthly &amp; yearly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105656"/>
            <a:ext cx="4114800" cy="749808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4105656"/>
            <a:ext cx="10972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25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+ CTEs for month-over-month growth 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251960" cy="3657600"/>
          </a:xfrm>
          <a:prstGeom prst="rect">
            <a:avLst/>
          </a:prstGeom>
          <a:solidFill>
            <a:srgbClr val="0F1E3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4630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Performed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9019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&amp; Avg Order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2677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Payment Types by count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6334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customer count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9992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Revenue Categories (JOIN)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3649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Month &amp; per Year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7307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count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0965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Sellers by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4622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 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371600"/>
          </a:xfrm>
          <a:prstGeom prst="rect">
            <a:avLst/>
          </a:prstGeom>
          <a:solidFill>
            <a:srgbClr val="E8FDF8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R$16.01M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1448" y="1005840"/>
            <a:ext cx="2011680" cy="1371600"/>
          </a:xfrm>
          <a:prstGeom prst="rect">
            <a:avLst/>
          </a:prstGeom>
          <a:solidFill>
            <a:srgbClr val="EEF4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005840"/>
            <a:ext cx="201168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207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41448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54296" y="1005840"/>
            <a:ext cx="2011680" cy="1371600"/>
          </a:xfrm>
          <a:prstGeom prst="rect">
            <a:avLst/>
          </a:prstGeom>
          <a:solidFill>
            <a:srgbClr val="F5F0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1005840"/>
            <a:ext cx="201168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207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54296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67144" y="1005840"/>
            <a:ext cx="2011680" cy="1371600"/>
          </a:xfrm>
          <a:prstGeom prst="rect">
            <a:avLst/>
          </a:prstGeom>
          <a:solidFill>
            <a:srgbClr val="FFFBEB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1005840"/>
            <a:ext cx="201168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207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67144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28600" y="2542032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760720" y="27614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72200" y="27066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upward trend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172200" y="2962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through late 2018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60720" y="353872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72200" y="34838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2017 = peak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172200" y="37398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effect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760720" y="43159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60720" y="4315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72200" y="42611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dip in Q1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172200" y="4517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January–February each year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Category Insights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60120"/>
          <a:ext cx="4389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Categories by Revenue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417320"/>
            <a:ext cx="4069080" cy="530352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417320"/>
            <a:ext cx="914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4538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health_beauty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16916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R$1.26M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1563624"/>
            <a:ext cx="1371600" cy="237744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039112"/>
            <a:ext cx="4069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2039112"/>
            <a:ext cx="91440" cy="5303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0756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watches_gifts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3134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R$1.21M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2185416"/>
            <a:ext cx="1317171" cy="237744"/>
          </a:xfrm>
          <a:prstGeom prst="rect">
            <a:avLst/>
          </a:prstGeom>
          <a:solidFill>
            <a:srgbClr val="1E5FA8">
              <a:alpha val="70000"/>
            </a:srgbClr>
          </a:solidFill>
          <a:ln w="12700">
            <a:solidFill>
              <a:srgbClr val="1E5FA8">
                <a:alpha val="7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2660904"/>
            <a:ext cx="4069080" cy="530352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2660904"/>
            <a:ext cx="9144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26974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bed_bath_table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0" y="293522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R$1.04M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63840" y="2807208"/>
            <a:ext cx="1132114" cy="237744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3282696"/>
            <a:ext cx="4069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3282696"/>
            <a:ext cx="9144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3319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sports_leisure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0" y="35570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R$0.99M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863840" y="3429000"/>
            <a:ext cx="1077686" cy="237744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46320" y="3904488"/>
            <a:ext cx="4069080" cy="530352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46320" y="3904488"/>
            <a:ext cx="9144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0" y="39410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computers_accessories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0" y="41788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R$0.91M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863840" y="4050792"/>
            <a:ext cx="990600" cy="237744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>
                <a:alpha val="7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46320" y="4572000"/>
            <a:ext cx="4069080" cy="457200"/>
          </a:xfrm>
          <a:prstGeom prst="rect">
            <a:avLst/>
          </a:prstGeom>
          <a:solidFill>
            <a:srgbClr val="FFF8E1"/>
          </a:solidFill>
          <a:ln w="10160">
            <a:solidFill>
              <a:srgbClr val="FFC10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4572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alone = 43% of total revenue  ·  Top 3 states = 70%+ of all orders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Delivery &amp; Reviews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960120"/>
          <a:ext cx="3474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977640" y="1005840"/>
            <a:ext cx="2423160" cy="1417320"/>
          </a:xfrm>
          <a:prstGeom prst="rect">
            <a:avLst/>
          </a:prstGeom>
          <a:solidFill>
            <a:srgbClr val="E8FDF8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977640" y="1005840"/>
            <a:ext cx="2423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77640" y="1207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977640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77640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payment method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2633472"/>
            <a:ext cx="2423160" cy="141732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77640" y="2633472"/>
            <a:ext cx="242316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77640" y="2834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977640" y="33467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77640" y="36210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~7,700 late deliveries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56248" y="1005840"/>
            <a:ext cx="2423160" cy="1417320"/>
          </a:xfrm>
          <a:prstGeom prst="rect">
            <a:avLst/>
          </a:prstGeom>
          <a:solidFill>
            <a:srgbClr val="FFFBEB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56248" y="1005840"/>
            <a:ext cx="2423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56248" y="1207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4.07★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556248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56248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gave 5 stars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56248" y="2633472"/>
            <a:ext cx="2423160" cy="1417320"/>
          </a:xfrm>
          <a:prstGeom prst="rect">
            <a:avLst/>
          </a:prstGeom>
          <a:solidFill>
            <a:srgbClr val="EEF4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56248" y="2633472"/>
            <a:ext cx="242316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56248" y="2834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2.9×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556248" y="33467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Installments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56248" y="36210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on credit card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4069080"/>
            <a:ext cx="8686800" cy="50292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Delivery delay is the #1 driver of 1-star reviews (11% of all reviews). Reducing late deliveries will directly boost satisfaction scores.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Olist 360°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interactive dashboard with dynamic slicers and 11 DAX measures.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029968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63040"/>
            <a:ext cx="2029968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6642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" y="202996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revenue by month,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states, payment donut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1463040"/>
            <a:ext cx="2029968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463040"/>
            <a:ext cx="2029968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6642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202996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39572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chart, quarterly bar,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comparison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1463040"/>
            <a:ext cx="2029968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463040"/>
            <a:ext cx="202996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16642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27448" y="202996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239572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breakdown, new vs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map visual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67144" y="1463040"/>
            <a:ext cx="2029968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67144" y="1463040"/>
            <a:ext cx="2029968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0296" y="16642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0296" y="202996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58584" y="239572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 bar,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treemap, product 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291840"/>
            <a:ext cx="2029968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291840"/>
            <a:ext cx="2029968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34930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1752" y="385876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Logistics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422452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 by state,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gauge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41448" y="3291840"/>
            <a:ext cx="2029968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41448" y="3291840"/>
            <a:ext cx="2029968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34930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14600" y="385876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32888" y="4224528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donut,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 by category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3291840"/>
            <a:ext cx="2743200" cy="1554480"/>
          </a:xfrm>
          <a:prstGeom prst="rect">
            <a:avLst/>
          </a:prstGeom>
          <a:solidFill>
            <a:srgbClr val="F0F6FF"/>
          </a:solidFill>
          <a:ln w="1016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08960" y="3291840"/>
            <a:ext cx="274320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82112" y="34930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182112" y="3858768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42245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713232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247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0149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North/Northeast Logistics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" y="13075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regional carriers in AM, RR, AP to cut delivery times 30–40% and boost review scores.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764792"/>
            <a:ext cx="8686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1764792"/>
            <a:ext cx="109728" cy="7132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2938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18196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Campaign Planning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9264" y="21122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health_beauty &amp; watches_gifts before October to maximize the November revenue spike.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2569464"/>
            <a:ext cx="8686800" cy="713232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569464"/>
            <a:ext cx="10972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340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26243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Program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9264" y="291693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repeat rate — launch loyalty programs &amp; personalized offers to boost lifetime value.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28600" y="3374136"/>
            <a:ext cx="8686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28600" y="3374136"/>
            <a:ext cx="10972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53872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9264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Diversification in SP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69264" y="372160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ads for mid-tier categories in São Paulo could unlock R$2M+ additional revenue.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28600" y="4178808"/>
            <a:ext cx="8686800" cy="713232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4178808"/>
            <a:ext cx="10972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34340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9264" y="4233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Optimization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69264" y="45262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6–12 month 0% interest on high-ticket items (computers, furniture) to boost conversion.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project: github.com/bhupathi-goud/ecommerce-sales-analysis  ·  Kalali Bhupathi Goud  ·  Hyderabad,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>PptxGenJS Presentation</dc:subject>
  <dc:creator>Kalali Bhupathi Goud</dc:creator>
  <cp:lastModifiedBy>Kalali Bhupathi Goud</cp:lastModifiedBy>
  <cp:revision>1</cp:revision>
  <dcterms:created xsi:type="dcterms:W3CDTF">2026-05-08T11:41:23Z</dcterms:created>
  <dcterms:modified xsi:type="dcterms:W3CDTF">2026-05-08T11:41:23Z</dcterms:modified>
</cp:coreProperties>
</file>